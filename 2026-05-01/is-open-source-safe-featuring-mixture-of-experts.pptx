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789920" cy="1463040"/>
          </a:xfrm>
          <a:prstGeom prst="rect">
            <a:avLst/>
          </a:prstGeom>
          <a:noFill/>
        </p:spPr>
        <p:txBody>
          <a:bodyPr wrap="square">
            <a:spAutoFit/>
          </a:bodyPr>
          <a:lstStyle/>
          <a:p>
            <a:pPr algn="l"/>
            <a:r>
              <a:rPr sz="2800" b="1">
                <a:solidFill>
                  <a:srgbClr val="112944"/>
                </a:solidFill>
              </a:rPr>
              <a:t>Is open source safe? Featuring Mixture of Experts</a:t>
            </a:r>
          </a:p>
        </p:txBody>
      </p:sp>
      <p:sp>
        <p:nvSpPr>
          <p:cNvPr id="4" name="TextBox 3"/>
          <p:cNvSpPr txBox="1"/>
          <p:nvPr/>
        </p:nvSpPr>
        <p:spPr>
          <a:xfrm>
            <a:off x="640080" y="1920240"/>
            <a:ext cx="10515600" cy="548640"/>
          </a:xfrm>
          <a:prstGeom prst="rect">
            <a:avLst/>
          </a:prstGeom>
          <a:noFill/>
        </p:spPr>
        <p:txBody>
          <a:bodyPr wrap="square">
            <a:spAutoFit/>
          </a:bodyPr>
          <a:lstStyle/>
          <a:p>
            <a:pPr algn="l"/>
            <a:r>
              <a:rPr sz="1600" b="0">
                <a:solidFill>
                  <a:srgbClr val="465A6E"/>
                </a:solidFill>
              </a:rPr>
              <a:t>IBM Technology · 中文摘要 · 自动生成</a:t>
            </a:r>
          </a:p>
        </p:txBody>
      </p:sp>
      <p:sp>
        <p:nvSpPr>
          <p:cNvPr id="5" name="TextBox 4"/>
          <p:cNvSpPr txBox="1"/>
          <p:nvPr/>
        </p:nvSpPr>
        <p:spPr>
          <a:xfrm>
            <a:off x="640080" y="2743200"/>
            <a:ext cx="10515600" cy="2194560"/>
          </a:xfrm>
          <a:prstGeom prst="rect">
            <a:avLst/>
          </a:prstGeom>
          <a:noFill/>
        </p:spPr>
        <p:txBody>
          <a:bodyPr wrap="square">
            <a:spAutoFit/>
          </a:bodyPr>
          <a:lstStyle/>
          <a:p>
            <a:pPr algn="l"/>
            <a:r>
              <a:rPr sz="2200" b="0">
                <a:solidFill>
                  <a:srgbClr val="233446"/>
                </a:solidFill>
              </a:rPr>
              <a:t>这份 PPT 采用后台静默模式生成：不玩花活，直接把关键观点捞出来。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a:spAutoFit/>
          </a:bodyPr>
          <a:lstStyle/>
          <a:p>
            <a:pPr algn="l"/>
            <a:r>
              <a:rPr sz="3000" b="1">
                <a:solidFill>
                  <a:srgbClr val="112944"/>
                </a:solidFill>
              </a:rPr>
              <a:t>内容地图</a:t>
            </a:r>
          </a:p>
        </p:txBody>
      </p:sp>
      <p:sp>
        <p:nvSpPr>
          <p:cNvPr id="3" name="TextBox 2"/>
          <p:cNvSpPr txBox="1"/>
          <p:nvPr/>
        </p:nvSpPr>
        <p:spPr>
          <a:xfrm>
            <a:off x="731520" y="1371600"/>
            <a:ext cx="10515600" cy="4389120"/>
          </a:xfrm>
          <a:prstGeom prst="rect">
            <a:avLst/>
          </a:prstGeom>
          <a:noFill/>
        </p:spPr>
        <p:txBody>
          <a:bodyPr wrap="square">
            <a:spAutoFit/>
          </a:bodyPr>
          <a:lstStyle/>
          <a:p>
            <a:pPr>
              <a:defRPr sz="2400">
                <a:solidFill>
                  <a:srgbClr val="282828"/>
                </a:solidFill>
              </a:defRPr>
            </a:pPr>
            <a:r>
              <a:t>一句话结论</a:t>
            </a:r>
          </a:p>
          <a:p>
            <a:pPr>
              <a:defRPr sz="2400">
                <a:solidFill>
                  <a:srgbClr val="282828"/>
                </a:solidFill>
              </a:defRPr>
            </a:pPr>
            <a:r>
              <a:t>这期视频讲了什么</a:t>
            </a:r>
          </a:p>
          <a:p>
            <a:pPr>
              <a:defRPr sz="2400">
                <a:solidFill>
                  <a:srgbClr val="282828"/>
                </a:solidFill>
              </a:defRPr>
            </a:pPr>
            <a:r>
              <a:t>我提炼出的 5 个关键点</a:t>
            </a:r>
          </a:p>
          <a:p>
            <a:pPr>
              <a:defRPr sz="2400">
                <a:solidFill>
                  <a:srgbClr val="282828"/>
                </a:solidFill>
              </a:defRPr>
            </a:pPr>
            <a:r>
              <a:t>我的解读</a:t>
            </a:r>
          </a:p>
          <a:p>
            <a:pPr>
              <a:defRPr sz="2400">
                <a:solidFill>
                  <a:srgbClr val="282828"/>
                </a:solidFill>
              </a:defRPr>
            </a:pPr>
            <a:r>
              <a:t>适合谁看</a:t>
            </a:r>
          </a:p>
          <a:p>
            <a:pPr>
              <a:defRPr sz="2400">
                <a:solidFill>
                  <a:srgbClr val="282828"/>
                </a:solidFill>
              </a:defRPr>
            </a:pPr>
            <a:r>
              <a:t>原字幕中的高价值信息片段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a:spAutoFit/>
          </a:bodyPr>
          <a:lstStyle/>
          <a:p>
            <a:pPr algn="l"/>
            <a:r>
              <a:rPr sz="3000" b="1">
                <a:solidFill>
                  <a:srgbClr val="112944"/>
                </a:solidFill>
              </a:rPr>
              <a:t>关键点 1</a:t>
            </a:r>
          </a:p>
        </p:txBody>
      </p:sp>
      <p:sp>
        <p:nvSpPr>
          <p:cNvPr id="3" name="TextBox 2"/>
          <p:cNvSpPr txBox="1"/>
          <p:nvPr/>
        </p:nvSpPr>
        <p:spPr>
          <a:xfrm>
            <a:off x="731520" y="1371600"/>
            <a:ext cx="10241280" cy="4389120"/>
          </a:xfrm>
          <a:prstGeom prst="rect">
            <a:avLst/>
          </a:prstGeom>
          <a:noFill/>
        </p:spPr>
        <p:txBody>
          <a:bodyPr wrap="square">
            <a:spAutoFit/>
          </a:bodyPr>
          <a:lstStyle/>
          <a:p>
            <a:pPr>
              <a:defRPr sz="2400">
                <a:solidFill>
                  <a:srgbClr val="282828"/>
                </a:solidFill>
              </a:defRPr>
            </a:pPr>
            <a:r>
              <a:t>Hello and welcome to a very special Hello and welcome to a very special Hello and welcome to a very special episode of Security Intelligence.</a:t>
            </a:r>
          </a:p>
          <a:p>
            <a:pPr>
              <a:defRPr sz="2400">
                <a:solidFill>
                  <a:srgbClr val="282828"/>
                </a:solidFill>
              </a:defRPr>
            </a:pPr>
            <a:r>
              <a:t>I'm your host Matt Kazinski and today we your host Matt Kazinski and today we your host Matt Kazinski and today we have a crossover episode with our sister have a crossover episode with our sister have a crossover episode with our sister show Mixture of Experts IBM's AI podcast repping.</a:t>
            </a:r>
          </a:p>
          <a:p>
            <a:pPr>
              <a:defRPr sz="2400">
                <a:solidFill>
                  <a:srgbClr val="282828"/>
                </a:solidFill>
              </a:defRPr>
            </a:pPr>
            <a:r>
              <a:t>Today we have Martin Keane, master inventor, and Gabe Goodart, chief master inventor, and Gabe Goodart, chief master inventor, and Gabe Goodart, chief architect AI open innovation.</a:t>
            </a:r>
          </a:p>
          <a:p>
            <a:pPr>
              <a:defRPr sz="2400">
                <a:solidFill>
                  <a:srgbClr val="282828"/>
                </a:solidFill>
              </a:defRPr>
            </a:pPr>
            <a:r>
              <a:t>And in the architect AI open innovation.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a:spAutoFit/>
          </a:bodyPr>
          <a:lstStyle/>
          <a:p>
            <a:pPr algn="l"/>
            <a:r>
              <a:rPr sz="3000" b="1">
                <a:solidFill>
                  <a:srgbClr val="112944"/>
                </a:solidFill>
              </a:rPr>
              <a:t>关键点 2</a:t>
            </a:r>
          </a:p>
        </p:txBody>
      </p:sp>
      <p:sp>
        <p:nvSpPr>
          <p:cNvPr id="3" name="TextBox 2"/>
          <p:cNvSpPr txBox="1"/>
          <p:nvPr/>
        </p:nvSpPr>
        <p:spPr>
          <a:xfrm>
            <a:off x="731520" y="1371600"/>
            <a:ext cx="10241280" cy="4389120"/>
          </a:xfrm>
          <a:prstGeom prst="rect">
            <a:avLst/>
          </a:prstGeom>
          <a:noFill/>
        </p:spPr>
        <p:txBody>
          <a:bodyPr wrap="square">
            <a:spAutoFit/>
          </a:bodyPr>
          <a:lstStyle/>
          <a:p>
            <a:pPr>
              <a:defRPr sz="2400">
                <a:solidFill>
                  <a:srgbClr val="282828"/>
                </a:solidFill>
              </a:defRPr>
            </a:pPr>
            <a:r>
              <a:t>And in the security intelligence corner, folks, security intelligence corner, folks, security intelligence corner, folks, it's Jeff Kroom, distinguished engineer, it's Jeff Kroom, distinguished engineer, it's Jeff Kroom, distinguished engineer, master inventor, data and AI security.</a:t>
            </a:r>
          </a:p>
          <a:p>
            <a:pPr>
              <a:defRPr sz="2400">
                <a:solidFill>
                  <a:srgbClr val="282828"/>
                </a:solidFill>
              </a:defRPr>
            </a:pPr>
            <a:r>
              <a:t>议题表面上是 **密码体系与抗量子升级、开源安全与供应链治理**，本质上讲的是“企业如何重新分配注意力”。</a:t>
            </a:r>
          </a:p>
          <a:p>
            <a:pPr>
              <a:defRPr sz="2400">
                <a:solidFill>
                  <a:srgbClr val="282828"/>
                </a:solidFill>
              </a:defRPr>
            </a:pPr>
            <a:r>
              <a:t>不是每个技术点都要同样重视，真正重要的是优先级、迁移路径和组织执行能力。</a:t>
            </a:r>
          </a:p>
          <a:p>
            <a:pPr>
              <a:defRPr sz="2400">
                <a:solidFill>
                  <a:srgbClr val="282828"/>
                </a:solidFill>
              </a:defRPr>
            </a:pPr>
            <a:r>
              <a:t>这类视频对普通观众是科普，对企业团队其实是路线提醒：早点准备，成本低很多；等问题爆了再补，往往贵得离谱。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a:spAutoFit/>
          </a:bodyPr>
          <a:lstStyle/>
          <a:p>
            <a:pPr algn="l"/>
            <a:r>
              <a:rPr sz="3000" b="1">
                <a:solidFill>
                  <a:srgbClr val="112944"/>
                </a:solidFill>
              </a:rPr>
              <a:t>关键点 3</a:t>
            </a:r>
          </a:p>
        </p:txBody>
      </p:sp>
      <p:sp>
        <p:nvSpPr>
          <p:cNvPr id="3" name="TextBox 2"/>
          <p:cNvSpPr txBox="1"/>
          <p:nvPr/>
        </p:nvSpPr>
        <p:spPr>
          <a:xfrm>
            <a:off x="731520" y="1371600"/>
            <a:ext cx="10241280" cy="4389120"/>
          </a:xfrm>
          <a:prstGeom prst="rect">
            <a:avLst/>
          </a:prstGeom>
          <a:noFill/>
        </p:spPr>
        <p:txBody>
          <a:bodyPr wrap="square">
            <a:spAutoFit/>
          </a:bodyPr>
          <a:lstStyle/>
          <a:p>
            <a:pPr>
              <a:defRPr sz="2400">
                <a:solidFill>
                  <a:srgbClr val="282828"/>
                </a:solidFill>
              </a:defRPr>
            </a:pPr>
            <a:r>
              <a:t>企业技术负责人：看战略信号而不是只看功能点。</a:t>
            </a:r>
          </a:p>
          <a:p>
            <a:pPr>
              <a:defRPr sz="2400">
                <a:solidFill>
                  <a:srgbClr val="282828"/>
                </a:solidFill>
              </a:defRPr>
            </a:pPr>
            <a:r>
              <a:t>安全/基础设施团队：拿来校准接下来 6-12 个月的工作优先级。</a:t>
            </a:r>
          </a:p>
          <a:p>
            <a:pPr>
              <a:defRPr sz="2400">
                <a:solidFill>
                  <a:srgbClr val="282828"/>
                </a:solidFill>
              </a:defRPr>
            </a:pPr>
            <a:r>
              <a:t>对 IBM 技术路线感兴趣的人：这能看出它更关注什么样的企业场景。</a:t>
            </a:r>
          </a:p>
          <a:p>
            <a:pPr>
              <a:defRPr sz="2400">
                <a:solidFill>
                  <a:srgbClr val="282828"/>
                </a:solidFill>
              </a:defRPr>
            </a:pPr>
            <a:r>
              <a:t>YouTube：https://www.youtube.com/watch?v=PJGIWDW_W2A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a:spAutoFit/>
          </a:bodyPr>
          <a:lstStyle/>
          <a:p>
            <a:pPr algn="l"/>
            <a:r>
              <a:rPr sz="3000" b="1">
                <a:solidFill>
                  <a:srgbClr val="112944"/>
                </a:solidFill>
              </a:rPr>
              <a:t>字幕里的高价值片段</a:t>
            </a:r>
          </a:p>
        </p:txBody>
      </p:sp>
      <p:sp>
        <p:nvSpPr>
          <p:cNvPr id="3" name="TextBox 2"/>
          <p:cNvSpPr txBox="1"/>
          <p:nvPr/>
        </p:nvSpPr>
        <p:spPr>
          <a:xfrm>
            <a:off x="731520" y="1280160"/>
            <a:ext cx="10424160" cy="4663440"/>
          </a:xfrm>
          <a:prstGeom prst="rect">
            <a:avLst/>
          </a:prstGeom>
          <a:noFill/>
        </p:spPr>
        <p:txBody>
          <a:bodyPr wrap="square">
            <a:spAutoFit/>
          </a:bodyPr>
          <a:lstStyle/>
          <a:p>
            <a:pPr>
              <a:defRPr sz="2000">
                <a:solidFill>
                  <a:srgbClr val="282828"/>
                </a:solidFill>
              </a:defRPr>
            </a:pPr>
            <a:r>
              <a:t>来源：IBM Technology</a:t>
            </a:r>
          </a:p>
          <a:p>
            <a:pPr>
              <a:defRPr sz="2000">
                <a:solidFill>
                  <a:srgbClr val="282828"/>
                </a:solidFill>
              </a:defRPr>
            </a:pPr>
            <a:r>
              <a:t>原视频：[Is open source safe? Featuring Mixture of Experts](https://www.youtube.com/watch?v=PJGIWDW_W2A)</a:t>
            </a:r>
          </a:p>
          <a:p>
            <a:pPr>
              <a:defRPr sz="2000">
                <a:solidFill>
                  <a:srgbClr val="282828"/>
                </a:solidFill>
              </a:defRPr>
            </a:pPr>
            <a:r>
              <a:t>日期：2026-04-29</a:t>
            </a:r>
          </a:p>
          <a:p>
            <a:pPr>
              <a:defRPr sz="2000">
                <a:solidFill>
                  <a:srgbClr val="282828"/>
                </a:solidFill>
              </a:defRPr>
            </a:pPr>
            <a:r>
              <a:t>形式：基于英文字幕整理的中文重写与观点化总结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a:spAutoFit/>
          </a:bodyPr>
          <a:lstStyle/>
          <a:p>
            <a:pPr algn="l"/>
            <a:r>
              <a:rPr sz="3000" b="1">
                <a:solidFill>
                  <a:srgbClr val="112944"/>
                </a:solidFill>
              </a:rPr>
              <a:t>给读者的结论</a:t>
            </a:r>
          </a:p>
        </p:txBody>
      </p:sp>
      <p:sp>
        <p:nvSpPr>
          <p:cNvPr id="3" name="TextBox 2"/>
          <p:cNvSpPr txBox="1"/>
          <p:nvPr/>
        </p:nvSpPr>
        <p:spPr>
          <a:xfrm>
            <a:off x="731520" y="1463040"/>
            <a:ext cx="10241280" cy="4206240"/>
          </a:xfrm>
          <a:prstGeom prst="rect">
            <a:avLst/>
          </a:prstGeom>
          <a:noFill/>
        </p:spPr>
        <p:txBody>
          <a:bodyPr wrap="square">
            <a:spAutoFit/>
          </a:bodyPr>
          <a:lstStyle/>
          <a:p>
            <a:pPr>
              <a:defRPr sz="2400">
                <a:solidFill>
                  <a:srgbClr val="282828"/>
                </a:solidFill>
              </a:defRPr>
            </a:pPr>
            <a:r>
              <a:t>别只记名词，要记“应该先做什么”。</a:t>
            </a:r>
          </a:p>
          <a:p>
            <a:pPr>
              <a:defRPr sz="2400">
                <a:solidFill>
                  <a:srgbClr val="282828"/>
                </a:solidFill>
              </a:defRPr>
            </a:pPr>
            <a:r>
              <a:t>企业真正稀缺的不是知道趋势，而是比别人更早开始迁移。</a:t>
            </a:r>
          </a:p>
          <a:p>
            <a:pPr>
              <a:defRPr sz="2400">
                <a:solidFill>
                  <a:srgbClr val="282828"/>
                </a:solidFill>
              </a:defRPr>
            </a:pPr>
            <a:r>
              <a:t>这类视频最适合拿来做团队同步材料。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